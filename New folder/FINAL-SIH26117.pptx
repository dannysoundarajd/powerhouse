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7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5E4961-1BF8-7158-B9B6-651D3B185981}" name="Aadhithya E N" initials="AE" userId="119b88d075ae277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9" autoAdjust="0"/>
  </p:normalViewPr>
  <p:slideViewPr>
    <p:cSldViewPr snapToGrid="0" snapToObjects="1">
      <p:cViewPr varScale="1">
        <p:scale>
          <a:sx n="111" d="100"/>
          <a:sy n="111" d="100"/>
        </p:scale>
        <p:origin x="558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2112.09332" TargetMode="External"/><Relationship Id="rId3" Type="http://schemas.openxmlformats.org/officeDocument/2006/relationships/hyperlink" Target="https://link.springer.com/article/10.1007/s10462-025-11471-9" TargetMode="External"/><Relationship Id="rId7" Type="http://schemas.openxmlformats.org/officeDocument/2006/relationships/hyperlink" Target="https://arxiv.org/pdf/2210.03629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312.10997" TargetMode="External"/><Relationship Id="rId5" Type="http://schemas.openxmlformats.org/officeDocument/2006/relationships/hyperlink" Target="https://aclanthology.org/2024.findings-acl.807.pdf" TargetMode="External"/><Relationship Id="rId4" Type="http://schemas.openxmlformats.org/officeDocument/2006/relationships/hyperlink" Target="https://arxiv.org/pdf/2406.05804" TargetMode="External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63AD929-0904-F73F-B6EF-E646C66FF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441" y="76621"/>
            <a:ext cx="1617103" cy="81623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5AA830F-30FC-2B56-E120-BED89C38D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111334"/>
              </p:ext>
            </p:extLst>
          </p:nvPr>
        </p:nvGraphicFramePr>
        <p:xfrm>
          <a:off x="406400" y="2177252"/>
          <a:ext cx="7438102" cy="3417776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2996144">
                  <a:extLst>
                    <a:ext uri="{9D8B030D-6E8A-4147-A177-3AD203B41FA5}">
                      <a16:colId xmlns:a16="http://schemas.microsoft.com/office/drawing/2014/main" val="1258911430"/>
                    </a:ext>
                  </a:extLst>
                </a:gridCol>
                <a:gridCol w="4441958">
                  <a:extLst>
                    <a:ext uri="{9D8B030D-6E8A-4147-A177-3AD203B41FA5}">
                      <a16:colId xmlns:a16="http://schemas.microsoft.com/office/drawing/2014/main" val="750793211"/>
                    </a:ext>
                  </a:extLst>
                </a:gridCol>
              </a:tblGrid>
              <a:tr h="40433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PROBLEM STATEMENT ID 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j-lt"/>
                          <a:cs typeface="Times New Roman" panose="02020603050405020304" pitchFamily="18" charset="0"/>
                        </a:rPr>
                        <a:t>SIH26117</a:t>
                      </a:r>
                      <a:endParaRPr lang="en-IN" b="1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299863"/>
                  </a:ext>
                </a:extLst>
              </a:tr>
              <a:tr h="154499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PROBLEM STATEMENT TITLE</a:t>
                      </a:r>
                      <a:r>
                        <a:rPr lang="en-US" sz="1800" dirty="0"/>
                        <a:t> 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Sovereign On-Premise Agentic AI Workbench using Open-Weight Multimodal LLMs for Confidential Industrial Work</a:t>
                      </a:r>
                      <a:endParaRPr lang="en-US" sz="18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962495"/>
                  </a:ext>
                </a:extLst>
              </a:tr>
              <a:tr h="56921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THEME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Smart Automation</a:t>
                      </a:r>
                      <a:endParaRPr lang="en-IN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735000"/>
                  </a:ext>
                </a:extLst>
              </a:tr>
              <a:tr h="49489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PS CATEGORY 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Software</a:t>
                      </a:r>
                      <a:endParaRPr lang="en-IN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985048"/>
                  </a:ext>
                </a:extLst>
              </a:tr>
              <a:tr h="40433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TEAM NAME 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Power House</a:t>
                      </a:r>
                      <a:endParaRPr lang="en-IN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17614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ACC52C4D-552E-C93E-A994-6427127A5C4F}"/>
              </a:ext>
            </a:extLst>
          </p:cNvPr>
          <p:cNvSpPr txBox="1"/>
          <p:nvPr/>
        </p:nvSpPr>
        <p:spPr>
          <a:xfrm>
            <a:off x="1740653" y="795935"/>
            <a:ext cx="940735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5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C840A98-1F7C-69AF-185D-11F8542E6C5B}"/>
              </a:ext>
            </a:extLst>
          </p:cNvPr>
          <p:cNvCxnSpPr/>
          <p:nvPr/>
        </p:nvCxnSpPr>
        <p:spPr>
          <a:xfrm>
            <a:off x="0" y="5979602"/>
            <a:ext cx="84112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A64EDB-2A0B-D5E6-0011-62C5B16A8FCD}"/>
              </a:ext>
            </a:extLst>
          </p:cNvPr>
          <p:cNvCxnSpPr/>
          <p:nvPr/>
        </p:nvCxnSpPr>
        <p:spPr>
          <a:xfrm>
            <a:off x="0" y="1749026"/>
            <a:ext cx="84112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EDDD860-D37C-A14A-DD4C-D59531B30106}"/>
              </a:ext>
            </a:extLst>
          </p:cNvPr>
          <p:cNvCxnSpPr>
            <a:cxnSpLocks/>
          </p:cNvCxnSpPr>
          <p:nvPr/>
        </p:nvCxnSpPr>
        <p:spPr>
          <a:xfrm flipH="1">
            <a:off x="8409987" y="5475125"/>
            <a:ext cx="678075" cy="514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929AAC7-D8FF-79A5-4A7F-FFE7CE435D8B}"/>
              </a:ext>
            </a:extLst>
          </p:cNvPr>
          <p:cNvCxnSpPr>
            <a:cxnSpLocks/>
          </p:cNvCxnSpPr>
          <p:nvPr/>
        </p:nvCxnSpPr>
        <p:spPr>
          <a:xfrm flipH="1" flipV="1">
            <a:off x="8411246" y="1749026"/>
            <a:ext cx="674194" cy="5510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0CAEEFD-FFF1-5DF4-0591-22DACFB73567}"/>
              </a:ext>
            </a:extLst>
          </p:cNvPr>
          <p:cNvSpPr/>
          <p:nvPr/>
        </p:nvSpPr>
        <p:spPr>
          <a:xfrm>
            <a:off x="8425278" y="2282676"/>
            <a:ext cx="3717240" cy="31924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2978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-239894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A45B76-67BF-C2B2-5166-89E40C2E4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023" y="0"/>
            <a:ext cx="1446977" cy="73036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7F78EC-4F91-EC77-BD41-57D06C565E97}"/>
              </a:ext>
            </a:extLst>
          </p:cNvPr>
          <p:cNvCxnSpPr>
            <a:cxnSpLocks/>
          </p:cNvCxnSpPr>
          <p:nvPr/>
        </p:nvCxnSpPr>
        <p:spPr>
          <a:xfrm>
            <a:off x="0" y="730361"/>
            <a:ext cx="1219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8100DBF-DEF4-AEA1-0E9A-23EBF89D10D2}"/>
              </a:ext>
            </a:extLst>
          </p:cNvPr>
          <p:cNvSpPr txBox="1"/>
          <p:nvPr/>
        </p:nvSpPr>
        <p:spPr>
          <a:xfrm>
            <a:off x="6060420" y="73390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Idea:</a:t>
            </a:r>
            <a:endParaRPr lang="en-IN" sz="2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95E3D9-6CA4-0B1E-5E9B-CA603889D719}"/>
              </a:ext>
            </a:extLst>
          </p:cNvPr>
          <p:cNvSpPr txBox="1"/>
          <p:nvPr/>
        </p:nvSpPr>
        <p:spPr>
          <a:xfrm>
            <a:off x="0" y="781921"/>
            <a:ext cx="11343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endParaRPr lang="en-IN" sz="2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976D65-BC73-F29A-DE32-71525C6C0929}"/>
              </a:ext>
            </a:extLst>
          </p:cNvPr>
          <p:cNvSpPr txBox="1"/>
          <p:nvPr/>
        </p:nvSpPr>
        <p:spPr>
          <a:xfrm>
            <a:off x="-37654" y="3236639"/>
            <a:ext cx="209239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627618-5B7F-E35E-6D41-B4111C165D50}"/>
              </a:ext>
            </a:extLst>
          </p:cNvPr>
          <p:cNvSpPr txBox="1"/>
          <p:nvPr/>
        </p:nvSpPr>
        <p:spPr>
          <a:xfrm>
            <a:off x="6064611" y="3192622"/>
            <a:ext cx="17875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Innovation: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4B53B-EADC-A57D-9F67-2B6FFEFF0738}"/>
              </a:ext>
            </a:extLst>
          </p:cNvPr>
          <p:cNvSpPr txBox="1"/>
          <p:nvPr/>
        </p:nvSpPr>
        <p:spPr>
          <a:xfrm>
            <a:off x="-1" y="110139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MRPL's confidential data needs a secure, on-premise AI environment without cloud dependency.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need a secure, on-premise AI environment to access and work with this information locally.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Valuable time is spent in searching, analysing, calculating, and preparing reports manually.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B9734C-A907-F93E-786B-3565B5784794}"/>
              </a:ext>
            </a:extLst>
          </p:cNvPr>
          <p:cNvSpPr txBox="1"/>
          <p:nvPr/>
        </p:nvSpPr>
        <p:spPr>
          <a:xfrm>
            <a:off x="6060420" y="976594"/>
            <a:ext cx="58770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secure, on-premise AI workbench that unifies multiple models based on tasks with MRPL's REVEAL intelligence in one place.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give tasks in natural language, the system plans, retrieves information, and executes approved actions.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memory and tool execution makes work faster, safer, and easier while producing traceable results supported by documented citations.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650641-F2C4-03A2-CB4C-470E14F25E6F}"/>
              </a:ext>
            </a:extLst>
          </p:cNvPr>
          <p:cNvSpPr txBox="1"/>
          <p:nvPr/>
        </p:nvSpPr>
        <p:spPr>
          <a:xfrm>
            <a:off x="0" y="3542586"/>
            <a:ext cx="58310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local multimodal AI workbench with      adaptive routing across vision, coding, and reasoning models.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agentic task execution through document retrieval, context memory, sandboxed tools, and automated report generation.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access control, policy enforcement, and audit trails to protect confidential data and regulate AI actions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addition of new AI models through a modular model registry without changing the core architecture.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86B1A4-0FEC-37E8-4EB6-26C3A609932E}"/>
              </a:ext>
            </a:extLst>
          </p:cNvPr>
          <p:cNvSpPr txBox="1"/>
          <p:nvPr/>
        </p:nvSpPr>
        <p:spPr>
          <a:xfrm>
            <a:off x="6096000" y="3542586"/>
            <a:ext cx="59133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 Fusion Layer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Unifies MRPL's industrial intelligence, multimodal AI, documents, and workflows in one interface.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Capability-Aware Routing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selects the right local model based on the task, modality, and resources.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Sovereign AI Security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Keeps data on-premise while controlling model access, tool execution, and sensitive actions.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Sovereign AI Security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Keeps data on-premise while controlling model access, tool execution and actions.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6626C6-792D-162C-E8A0-F8BE530F8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D4278808-BDC7-17F8-D282-B8E9D4A4F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@SIH 2026 - POWER HOUSE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B4B7EC1-9594-EE9E-5BC9-2B3196914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Oval 15" descr="Your startup LOGO">
            <a:extLst>
              <a:ext uri="{FF2B5EF4-FFF2-40B4-BE49-F238E27FC236}">
                <a16:creationId xmlns:a16="http://schemas.microsoft.com/office/drawing/2014/main" id="{BCE20324-617D-A538-44F3-55C3FA1626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9638" y="77639"/>
            <a:ext cx="1905098" cy="5792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POWER HOUSE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32ACBC-D650-4596-459C-AE2EDA30E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E23F696-AEA3-81DF-FC31-6D6F03ED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@SIH 2026 - POWER HOUSE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08819-FD81-1C0E-2620-3066B6B0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42DE3A2D-7DFD-4009-4F0B-906A70495D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9638" y="77639"/>
            <a:ext cx="1905098" cy="5792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POWER HOUSE</a:t>
            </a:r>
            <a:endParaRPr lang="en-IN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197510-617F-E259-F245-AF5A203A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249" y="73258"/>
            <a:ext cx="5779698" cy="65710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237CEEB-F938-B055-87A2-18126812E2C2}"/>
              </a:ext>
            </a:extLst>
          </p:cNvPr>
          <p:cNvSpPr/>
          <p:nvPr/>
        </p:nvSpPr>
        <p:spPr>
          <a:xfrm>
            <a:off x="107887" y="818503"/>
            <a:ext cx="5868723" cy="382051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 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User Interface</a:t>
            </a:r>
            <a:r>
              <a:rPr lang="en-US" dirty="0"/>
              <a:t>: Python Textual + Rich (Terminal-Based)</a:t>
            </a:r>
          </a:p>
          <a:p>
            <a:r>
              <a:rPr lang="en-US" b="1" dirty="0"/>
              <a:t>AI Orchestrator: </a:t>
            </a:r>
            <a:r>
              <a:rPr lang="en-US" dirty="0"/>
              <a:t> Pluggable LLM Backend · Qwen3.5:2B Master Agent (Always-Resident)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Routing: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YAML Model Registry </a:t>
            </a:r>
            <a:r>
              <a:rPr lang="en-US" dirty="0"/>
              <a:t>·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On-Demand Model Loading	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&amp; Security: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Docker (Isolated Sandbox)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(Reasoning &amp; Acting ) </a:t>
            </a:r>
            <a:r>
              <a:rPr lang="en-US" dirty="0"/>
              <a:t>·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Guard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&amp; RAG: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SQLite · JSONL Audit Logs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Auto-Summarization </a:t>
            </a:r>
            <a:r>
              <a:rPr lang="en-US" dirty="0"/>
              <a:t>·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Session Archiving via SQLite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4377A6-F4E7-689B-93B7-3444929E8E34}"/>
              </a:ext>
            </a:extLst>
          </p:cNvPr>
          <p:cNvCxnSpPr>
            <a:cxnSpLocks/>
          </p:cNvCxnSpPr>
          <p:nvPr/>
        </p:nvCxnSpPr>
        <p:spPr>
          <a:xfrm>
            <a:off x="0" y="730361"/>
            <a:ext cx="1219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F30FEAA2-7F05-74EF-A7F6-3B9F39965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811" y="784507"/>
            <a:ext cx="5477774" cy="555090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DCD046E-3664-1C52-4074-D73C2F00F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023" y="0"/>
            <a:ext cx="1446977" cy="7303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6132937-A7FC-B789-F597-FA1B18213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829" y="413063"/>
            <a:ext cx="5188552" cy="4953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DF645C6-8C9B-E9BA-F289-0F645800B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F56F487C-5CBB-EAD5-EC3D-106BDAB3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@SIH 2026 - POWER HOUSE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6C06EB0-17B1-16F7-F78A-4CF3579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BB1BB7-5F4E-CF9F-EF6D-5A17937D84A8}"/>
              </a:ext>
            </a:extLst>
          </p:cNvPr>
          <p:cNvCxnSpPr>
            <a:cxnSpLocks/>
          </p:cNvCxnSpPr>
          <p:nvPr/>
        </p:nvCxnSpPr>
        <p:spPr>
          <a:xfrm>
            <a:off x="0" y="730361"/>
            <a:ext cx="1219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238F4C42-71B4-DD3A-F55C-C2058803DA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9638" y="77639"/>
            <a:ext cx="1905098" cy="5792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POWER HOUSE</a:t>
            </a:r>
            <a:endParaRPr lang="en-IN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EB2CF46-D324-BCC3-C8FB-9CC161052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049" y="58298"/>
            <a:ext cx="6800491" cy="65272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663D61EC-7C39-FC56-40DE-4D8B8EFEA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13" y="908432"/>
            <a:ext cx="64661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2CC798-0DB4-5A75-3E8F-3215F617E23F}"/>
              </a:ext>
            </a:extLst>
          </p:cNvPr>
          <p:cNvSpPr txBox="1">
            <a:spLocks/>
          </p:cNvSpPr>
          <p:nvPr/>
        </p:nvSpPr>
        <p:spPr>
          <a:xfrm>
            <a:off x="8737600" y="6364979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4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11614BE9-6509-4681-4FD9-FD96CA197F00}"/>
              </a:ext>
            </a:extLst>
          </p:cNvPr>
          <p:cNvSpPr txBox="1">
            <a:spLocks/>
          </p:cNvSpPr>
          <p:nvPr/>
        </p:nvSpPr>
        <p:spPr>
          <a:xfrm>
            <a:off x="4648200" y="6364979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2026 - POWER HOUSE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0671CF-7CD4-B3D6-527F-2ABBEA38F2DC}"/>
              </a:ext>
            </a:extLst>
          </p:cNvPr>
          <p:cNvSpPr txBox="1"/>
          <p:nvPr/>
        </p:nvSpPr>
        <p:spPr>
          <a:xfrm>
            <a:off x="533400" y="1351189"/>
            <a:ext cx="53013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On-Premise 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quantized open-weight multimodal models for local inference.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model routing and REVEAL integration through independent adapters.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Agent Execution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RAG, sandboxing, access control, and approval-based tool execution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2C2ECD-1E3C-74F4-071D-7FCD1A2165C7}"/>
              </a:ext>
            </a:extLst>
          </p:cNvPr>
          <p:cNvSpPr txBox="1"/>
          <p:nvPr/>
        </p:nvSpPr>
        <p:spPr>
          <a:xfrm>
            <a:off x="309113" y="3732884"/>
            <a:ext cx="504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07F7DF-2CB9-C5AD-E801-8AF260E0B37A}"/>
              </a:ext>
            </a:extLst>
          </p:cNvPr>
          <p:cNvSpPr txBox="1"/>
          <p:nvPr/>
        </p:nvSpPr>
        <p:spPr>
          <a:xfrm>
            <a:off x="547748" y="4212347"/>
            <a:ext cx="51489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Computing Resources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running multiple multimodal models locally.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REVEAL and other existing industrial data sources.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Reliability &amp; Security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handling confidential data and executing agent actions.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E2B570-20CC-3DDF-9B97-3778CA5ECAD4}"/>
              </a:ext>
            </a:extLst>
          </p:cNvPr>
          <p:cNvSpPr txBox="1"/>
          <p:nvPr/>
        </p:nvSpPr>
        <p:spPr>
          <a:xfrm>
            <a:off x="6108425" y="886655"/>
            <a:ext cx="593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49F63B-F8D3-B5B0-2BF3-D721A0DEBFBE}"/>
              </a:ext>
            </a:extLst>
          </p:cNvPr>
          <p:cNvSpPr txBox="1"/>
          <p:nvPr/>
        </p:nvSpPr>
        <p:spPr>
          <a:xfrm>
            <a:off x="6108425" y="1329309"/>
            <a:ext cx="56870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CLI-Based Workbench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engineers with a simple, professional interface for daily tasks.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AI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brings documents, models, workflows, and REVEAL together.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Infrastructure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support deployment without requiring external cloud AI services.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325A59-2BB1-BC90-4E89-3C1EA7BA72C0}"/>
              </a:ext>
            </a:extLst>
          </p:cNvPr>
          <p:cNvSpPr txBox="1"/>
          <p:nvPr/>
        </p:nvSpPr>
        <p:spPr>
          <a:xfrm>
            <a:off x="6096001" y="376555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A26718-E509-0822-7DA6-88F6515DF99B}"/>
              </a:ext>
            </a:extLst>
          </p:cNvPr>
          <p:cNvSpPr txBox="1"/>
          <p:nvPr/>
        </p:nvSpPr>
        <p:spPr>
          <a:xfrm>
            <a:off x="6096001" y="4195541"/>
            <a:ext cx="58129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Model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quantization, dynamic loading, and capability-aware routing.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Adapter-Based Integration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connect REVEAL and future systems without changing the core architecture.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Verification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sandboxing, access controls, human approvals, citations, and audit trails. </a:t>
            </a:r>
          </a:p>
          <a:p>
            <a:pPr lvl="0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6032B4B-D6C4-94C7-0BE1-D09CCB42C3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023" y="0"/>
            <a:ext cx="1446977" cy="73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B88EE5-EFAE-E6B1-5442-840F645C6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93C7FDF5-B251-86A2-B9A3-CF3782B43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@SIH 2026 - POWER HOUSE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E9BF547-4E45-F824-9716-8D91A8165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FD2EF1-33E7-DECF-8750-8E11AFED8D7F}"/>
              </a:ext>
            </a:extLst>
          </p:cNvPr>
          <p:cNvCxnSpPr>
            <a:cxnSpLocks/>
          </p:cNvCxnSpPr>
          <p:nvPr/>
        </p:nvCxnSpPr>
        <p:spPr>
          <a:xfrm>
            <a:off x="0" y="730361"/>
            <a:ext cx="1219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1C4E909A-A4F9-D3DB-61DA-AE026E0935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9638" y="77639"/>
            <a:ext cx="1905098" cy="5792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POWER HOUSE</a:t>
            </a:r>
            <a:endParaRPr lang="en-IN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352B6C5-0339-1452-F320-696ED14E6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007" y="42290"/>
            <a:ext cx="5486400" cy="67597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7FF80-531F-3CC1-C3AE-112BE0404E17}"/>
              </a:ext>
            </a:extLst>
          </p:cNvPr>
          <p:cNvSpPr txBox="1"/>
          <p:nvPr/>
        </p:nvSpPr>
        <p:spPr>
          <a:xfrm>
            <a:off x="6558397" y="799785"/>
            <a:ext cx="4027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BENEFITS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0A84E-1360-A964-AA08-59CEF5FD9AF3}"/>
              </a:ext>
            </a:extLst>
          </p:cNvPr>
          <p:cNvSpPr txBox="1"/>
          <p:nvPr/>
        </p:nvSpPr>
        <p:spPr>
          <a:xfrm>
            <a:off x="320701" y="1169117"/>
            <a:ext cx="54972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technical documents, reports, drawings, and images.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repetitive tasks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summarization, comparison, and content generation.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actionable deliverables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reports, presentations, documents, and code.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E24589-FD2E-82BD-9823-DB8C70686957}"/>
              </a:ext>
            </a:extLst>
          </p:cNvPr>
          <p:cNvSpPr txBox="1"/>
          <p:nvPr/>
        </p:nvSpPr>
        <p:spPr>
          <a:xfrm>
            <a:off x="149638" y="3758661"/>
            <a:ext cx="5389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/ ECONOMIC BENEFITS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157E0-33B8-88BA-CE32-916C3016E294}"/>
              </a:ext>
            </a:extLst>
          </p:cNvPr>
          <p:cNvSpPr txBox="1"/>
          <p:nvPr/>
        </p:nvSpPr>
        <p:spPr>
          <a:xfrm>
            <a:off x="424111" y="4213357"/>
            <a:ext cx="52904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processing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engineering and knowledge teams.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workforce productivity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assisting employees with complex knowledge tasks.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confidential industrial information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risks associated with external AI platforms.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D0D475-B567-5E8A-C234-FD003AD618C1}"/>
              </a:ext>
            </a:extLst>
          </p:cNvPr>
          <p:cNvSpPr txBox="1"/>
          <p:nvPr/>
        </p:nvSpPr>
        <p:spPr>
          <a:xfrm>
            <a:off x="6686737" y="3872580"/>
            <a:ext cx="4800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IMPACT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FA312-A2DA-90D9-EE99-657B1FED06B5}"/>
              </a:ext>
            </a:extLst>
          </p:cNvPr>
          <p:cNvSpPr txBox="1"/>
          <p:nvPr/>
        </p:nvSpPr>
        <p:spPr>
          <a:xfrm>
            <a:off x="7068947" y="4240133"/>
            <a:ext cx="50093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sovereign AI capability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confidential industrial operations.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reusable AI platform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support multiple MRPL departments and workflows.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 a foundation for future AI adoption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sensitive industrial applications.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43A00-EF53-45FB-8712-2C582B75C475}"/>
              </a:ext>
            </a:extLst>
          </p:cNvPr>
          <p:cNvSpPr txBox="1"/>
          <p:nvPr/>
        </p:nvSpPr>
        <p:spPr>
          <a:xfrm>
            <a:off x="40884" y="815726"/>
            <a:ext cx="4027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USER IMPACT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81D256-30AE-FF62-67E6-CFA83BA8B036}"/>
              </a:ext>
            </a:extLst>
          </p:cNvPr>
          <p:cNvSpPr txBox="1"/>
          <p:nvPr/>
        </p:nvSpPr>
        <p:spPr>
          <a:xfrm>
            <a:off x="6861913" y="1098098"/>
            <a:ext cx="50093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Air-gapped, on-premise 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keeps sensitive MRPL information within the organization.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Multi-model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the most suitable AI model to handle different tasks.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AI agents and tools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secure execution without depending on external services</a:t>
            </a:r>
            <a:r>
              <a:rPr lang="en-IN" dirty="0"/>
              <a:t>.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AEE103C-6DB6-A9D3-3166-7D0CE793E7CF}"/>
              </a:ext>
            </a:extLst>
          </p:cNvPr>
          <p:cNvSpPr/>
          <p:nvPr/>
        </p:nvSpPr>
        <p:spPr>
          <a:xfrm>
            <a:off x="4610719" y="2631625"/>
            <a:ext cx="2597751" cy="142562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SDG 9 : Industry, Innovation &amp; Infrastructure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9F36B2-5AA3-1055-CE97-310481B38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023" y="0"/>
            <a:ext cx="1446977" cy="73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04535" y="39076"/>
            <a:ext cx="7182927" cy="57923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DC6318-D5EB-BE91-E473-C45D53E25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D3081F6C-93EA-2D92-18E9-A043C063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@SIH 2026 - POWER HOUSE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B1BCBA-1B7E-860C-5462-740C6767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289A8FBE-85D7-3499-9D27-2E1ED75494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9638" y="77639"/>
            <a:ext cx="1905098" cy="5792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POWER HOUSE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FA4AC6-C82C-45BE-1B15-A6EFDCF8F1C2}"/>
              </a:ext>
            </a:extLst>
          </p:cNvPr>
          <p:cNvCxnSpPr>
            <a:cxnSpLocks/>
          </p:cNvCxnSpPr>
          <p:nvPr/>
        </p:nvCxnSpPr>
        <p:spPr>
          <a:xfrm>
            <a:off x="0" y="730361"/>
            <a:ext cx="1219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E42547-588B-17F7-4370-21BD12709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555884"/>
              </p:ext>
            </p:extLst>
          </p:nvPr>
        </p:nvGraphicFramePr>
        <p:xfrm>
          <a:off x="669276" y="999424"/>
          <a:ext cx="10751297" cy="512821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01525">
                  <a:extLst>
                    <a:ext uri="{9D8B030D-6E8A-4147-A177-3AD203B41FA5}">
                      <a16:colId xmlns:a16="http://schemas.microsoft.com/office/drawing/2014/main" val="2759635531"/>
                    </a:ext>
                  </a:extLst>
                </a:gridCol>
                <a:gridCol w="3545457">
                  <a:extLst>
                    <a:ext uri="{9D8B030D-6E8A-4147-A177-3AD203B41FA5}">
                      <a16:colId xmlns:a16="http://schemas.microsoft.com/office/drawing/2014/main" val="3603270710"/>
                    </a:ext>
                  </a:extLst>
                </a:gridCol>
                <a:gridCol w="1915064">
                  <a:extLst>
                    <a:ext uri="{9D8B030D-6E8A-4147-A177-3AD203B41FA5}">
                      <a16:colId xmlns:a16="http://schemas.microsoft.com/office/drawing/2014/main" val="1637393537"/>
                    </a:ext>
                  </a:extLst>
                </a:gridCol>
                <a:gridCol w="1233577">
                  <a:extLst>
                    <a:ext uri="{9D8B030D-6E8A-4147-A177-3AD203B41FA5}">
                      <a16:colId xmlns:a16="http://schemas.microsoft.com/office/drawing/2014/main" val="1430092530"/>
                    </a:ext>
                  </a:extLst>
                </a:gridCol>
                <a:gridCol w="3355674">
                  <a:extLst>
                    <a:ext uri="{9D8B030D-6E8A-4147-A177-3AD203B41FA5}">
                      <a16:colId xmlns:a16="http://schemas.microsoft.com/office/drawing/2014/main" val="1071734926"/>
                    </a:ext>
                  </a:extLst>
                </a:gridCol>
              </a:tblGrid>
              <a:tr h="48683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S.NO</a:t>
                      </a:r>
                      <a:endParaRPr lang="en-IN" sz="18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TITLE</a:t>
                      </a:r>
                      <a:endParaRPr lang="en-IN" sz="18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AUTHOR</a:t>
                      </a:r>
                      <a:endParaRPr lang="en-IN" sz="18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YEAR</a:t>
                      </a:r>
                      <a:endParaRPr lang="en-IN" sz="18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KEY INFERENCE</a:t>
                      </a:r>
                      <a:endParaRPr lang="en-IN" sz="18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076531"/>
                  </a:ext>
                </a:extLst>
              </a:tr>
              <a:tr h="8595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1.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/>
                        </a:rPr>
                        <a:t>Review of large language models as autonomous agents and tool users</a:t>
                      </a:r>
                      <a:endParaRPr lang="en-IN" sz="16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Riasad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Alvi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agents: tool use, architecture &amp; it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ievaluation</a:t>
                      </a:r>
                      <a:r>
                        <a:rPr lang="en-IN" sz="1200" dirty="0"/>
                        <a:t>.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6169128"/>
                  </a:ext>
                </a:extLst>
              </a:tr>
              <a:tr h="8215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2.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Prominent Paradigms for LLM-Based Agents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Xinzhe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Agentic AI: RAG, planning &amp; feedback-based workflows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827777"/>
                  </a:ext>
                </a:extLst>
              </a:tr>
              <a:tr h="8115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3.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The Revolution of Multimodal Large Language Models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Davide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Caffagni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LLMs: vision language integration &amp; evaluation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990830"/>
                  </a:ext>
                </a:extLst>
              </a:tr>
              <a:tr h="8115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4.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Retrieval-Augmented Generation for Large Language Models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Yunfan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RAG: retrieval, knowledge grounding &amp; modular architectures</a:t>
                      </a:r>
                      <a:r>
                        <a:rPr lang="en-IN" sz="1200" dirty="0"/>
                        <a:t>.</a:t>
                      </a:r>
                      <a:endParaRPr lang="en-IN"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46099"/>
                  </a:ext>
                </a:extLst>
              </a:tr>
              <a:tr h="6685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5.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ReAct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: Synergizing Reasoning and Acting in Language Models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Shunyu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agents: reasoning, tool use &amp; iterative action.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057517"/>
                  </a:ext>
                </a:extLst>
              </a:tr>
              <a:tr h="6685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6.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WebGPT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: Browser-assisted question-answering with human feedback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Reiichiro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Nakano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Tool-augmented AI: evidence gathering, citations &amp; human feedback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10129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BCFE912-C987-8A60-C564-270940D3A6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023" y="0"/>
            <a:ext cx="1446977" cy="73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10245</TotalTime>
  <Words>915</Words>
  <Application>Microsoft Office PowerPoint</Application>
  <PresentationFormat>Widescreen</PresentationFormat>
  <Paragraphs>132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PowerPoint Presentation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Danny Soundaraj.D</cp:lastModifiedBy>
  <cp:revision>162</cp:revision>
  <dcterms:created xsi:type="dcterms:W3CDTF">2013-12-12T18:46:50Z</dcterms:created>
  <dcterms:modified xsi:type="dcterms:W3CDTF">2026-09-19T09:34:03Z</dcterms:modified>
  <cp:category/>
</cp:coreProperties>
</file>